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619970-D328-C304-5A75-EE6BCA61C7E3}" v="6" dt="2026-03-24T14:32:42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8B874-E77B-4EEC-A5EE-6D3727DFC14F}" type="datetimeFigureOut"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1625A-7CFB-4E62-A949-D66939D491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Thesis proposal draft (user-provided PDF).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Thesis proposal draft (user-provided PDF).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Robert Piché, “Online tests of Kalman filter consistency” (2014) — NIS definition and χ² consistency testing. https://trepo.tuni.fi/bitstream/handle/10024/212922/KFconsistency2015.pdf
- Thesis proposal draft (user-provided PDF).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Robert Piché, “Online tests of Kalman filter consistency” (2014) — NIS consistency testing. https://trepo.tuni.fi/bitstream/handle/10024/212922/KFconsistency2015.pdf
- J. Censi, “An accurate closed-form estimate of ICP’s covariance” (IEEE ICRA 2007) — ICP covariance/observability via Hessian. https://scispace.com/pdf/an-accurate-closed-form-estimate-of-icp-s-covariance-51qc58jk7j.pdf
- ROS Wiki: amcl — particle cloud and pose with covariance. https://wiki.ros.org/amcl
- Cartographer ROS docs: tuning + scan matching scores. https://google-cartographer-ros.readthedocs.io/en/latest/tuning.html
- Example learned reliability/covariance estimation for scan matching (recent deep-learning approach). https://arxiv.org/html/2509.18954v1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C57FE-5071-CCC1-77D7-6235D351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25559-DF37-C7BD-D9D6-7F7574915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EFF39-709F-E848-AFA1-76502CD0C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Robert Piché, “Online tests of Kalman filter consistency” (2014) — NIS consistency testing. https://trepo.tuni.fi/bitstream/handle/10024/212922/KFconsistency2015.pdf
- J. Censi, “An accurate closed-form estimate of ICP’s covariance” (IEEE ICRA 2007) — ICP covariance/observability via Hessian. https://scispace.com/pdf/an-accurate-closed-form-estimate-of-icp-s-covariance-51qc58jk7j.pdf
- ROS Wiki: amcl — particle cloud and pose with covariance. https://wiki.ros.org/amcl
- Cartographer ROS docs: tuning + scan matching scores. https://google-cartographer-ros.readthedocs.io/en/latest/tuning.html
- Example learned reliability/covariance estimation for scan matching (recent deep-learning approach). https://arxiv.org/html/2509.18954v1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1EF5F-514B-71D7-EEE4-4B119FB3B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54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Robert Piché, “Online tests of Kalman filter consistency” (2014) — NIS as an online consistency diagnostic. https://trepo.tuni.fi/bitstream/handle/10024/212922/KFconsistency2015.pdf
- J. Censi, “An accurate closed-form estimate of ICP’s covariance” (IEEE ICRA 2007) — relationship between scan-matching Hessian and observability/covariance. https://scispace.com/pdf/an-accurate-closed-form-estimate-of-icp-s-covariance-51qc58jk7j.pdf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11002975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D7E2F3"/>
                </a:solidFill>
                <a:latin typeface="Calibri"/>
                <a:ea typeface="Calibri"/>
                <a:cs typeface="Calibri"/>
              </a:rPr>
              <a:t>Risk-adaptive navigation for a SLAM-enabled AGV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440680" cy="52578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44168"/>
            <a:ext cx="48920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What?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19992"/>
            <a:ext cx="4892040" cy="2053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lnSpc>
                <a:spcPct val="115000"/>
              </a:lnSpc>
              <a:buSzPct val="100000"/>
              <a:buFont typeface="Arial"/>
              <a:buChar char="•"/>
            </a:pPr>
            <a:r>
              <a:rPr lang="en-US" sz="2000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a navigation layer that adapts behavior when localization integrity degrades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46520" y="1143000"/>
            <a:ext cx="5102352" cy="52578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344168"/>
            <a:ext cx="455371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How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3750" y="4437215"/>
            <a:ext cx="4830802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Compute an online risk scalar 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Schedule MPPI costs and speed limits based on risk</a:t>
            </a:r>
            <a:endParaRPr lang="en-US" sz="1600">
              <a:solidFill>
                <a:schemeClr val="bg2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Bias motion toward locally informative structure under high risk</a:t>
            </a:r>
          </a:p>
        </p:txBody>
      </p:sp>
      <p:sp>
        <p:nvSpPr>
          <p:cNvPr id="14" name="Shape 12"/>
          <p:cNvSpPr/>
          <p:nvPr/>
        </p:nvSpPr>
        <p:spPr>
          <a:xfrm>
            <a:off x="6957753" y="2232166"/>
            <a:ext cx="1516281" cy="975162"/>
          </a:xfrm>
          <a:prstGeom prst="rect">
            <a:avLst/>
          </a:prstGeom>
          <a:solidFill>
            <a:srgbClr val="EAFBF8"/>
          </a:solidFill>
          <a:ln w="12700">
            <a:solidFill>
              <a:srgbClr val="8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377" y="2457639"/>
            <a:ext cx="1277032" cy="742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scalar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∈ [0,1]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79725" y="2251958"/>
            <a:ext cx="1516281" cy="975162"/>
          </a:xfrm>
          <a:prstGeom prst="rect">
            <a:avLst/>
          </a:prstGeom>
          <a:solidFill>
            <a:srgbClr val="F2EE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89453" y="2398262"/>
            <a:ext cx="1277032" cy="742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(planner)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V="1">
            <a:off x="8474034" y="2769228"/>
            <a:ext cx="525482" cy="9896"/>
          </a:xfrm>
          <a:prstGeom prst="line">
            <a:avLst/>
          </a:prstGeom>
          <a:noFill/>
          <a:ln w="25400">
            <a:solidFill>
              <a:srgbClr val="5B677A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08792" cy="544068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35608"/>
            <a:ext cx="1036015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Three thesis questions 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1874520"/>
            <a:ext cx="10195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148840"/>
            <a:ext cx="777240" cy="82296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31343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2130552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composite risk scalar (NIS + pose covariance) predict unsafe navigation events better than either signal alone?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3566160"/>
            <a:ext cx="10195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840480"/>
            <a:ext cx="777240" cy="82296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00507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3822192"/>
            <a:ext cx="87782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Does risk-adaptive MPPI (cost-weight and speed scheduling) reduce collisions/near-collisions while </a:t>
            </a:r>
            <a:r>
              <a:rPr lang="en-US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keeping</a:t>
            </a:r>
            <a:r>
              <a:rPr lang="en-US" sz="1800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 reasonable efficiency vs a fixed-weight baseline?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05840" y="5257800"/>
            <a:ext cx="10195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4440" y="5532120"/>
            <a:ext cx="777240" cy="82296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569671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48840" y="5513832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high risk, does a lightweight structure-seeking term reliably improve localization quality (e.g., reduces uncertainty / restores consistency) faster than standard recovery behaviors?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1002975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Scalar (Why + What)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1292" y="1143000"/>
            <a:ext cx="11495210" cy="150876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44168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a risk scalar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72768"/>
            <a:ext cx="109728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We need a </a:t>
            </a:r>
            <a:r>
              <a:rPr lang="en-US" sz="1800" dirty="0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single, real-time signal</a:t>
            </a:r>
            <a:r>
              <a:rPr lang="en-US" sz="1800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 that summarizes localization integrity so the planner can continuously trade off progress vs safety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81911" y="2920499"/>
            <a:ext cx="5623560" cy="36576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56231" y="3121667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231" y="3331979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scalar: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56231" y="3697739"/>
            <a:ext cx="5074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391" y="3862331"/>
            <a:ext cx="4800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B1220"/>
                </a:solidFill>
                <a:latin typeface="Consolas"/>
                <a:ea typeface="Consolas" pitchFamily="34" charset="-122"/>
                <a:cs typeface="Consolas" pitchFamily="34" charset="-120"/>
              </a:rPr>
              <a:t>q = α·</a:t>
            </a:r>
            <a:r>
              <a:rPr lang="en-US" sz="2200" err="1">
                <a:solidFill>
                  <a:srgbClr val="0B1220"/>
                </a:solidFill>
                <a:latin typeface="Consolas"/>
                <a:ea typeface="Consolas" pitchFamily="34" charset="-122"/>
                <a:cs typeface="Consolas" pitchFamily="34" charset="-120"/>
              </a:rPr>
              <a:t>q</a:t>
            </a:r>
            <a:r>
              <a:rPr lang="en-US" sz="2200" baseline="-25000" err="1">
                <a:solidFill>
                  <a:srgbClr val="0B1220"/>
                </a:solidFill>
                <a:latin typeface="Consolas"/>
                <a:ea typeface="Consolas" pitchFamily="34" charset="-122"/>
                <a:cs typeface="Consolas" pitchFamily="34" charset="-120"/>
              </a:rPr>
              <a:t>nis</a:t>
            </a:r>
            <a:r>
              <a:rPr lang="en-US" sz="2200" dirty="0">
                <a:solidFill>
                  <a:srgbClr val="0B1220"/>
                </a:solidFill>
                <a:latin typeface="Consolas"/>
                <a:ea typeface="Consolas" pitchFamily="34" charset="-122"/>
                <a:cs typeface="Consolas" pitchFamily="34" charset="-120"/>
              </a:rPr>
              <a:t> + (1−α)·</a:t>
            </a:r>
            <a:r>
              <a:rPr lang="en-US" sz="2200" err="1">
                <a:solidFill>
                  <a:srgbClr val="0B1220"/>
                </a:solidFill>
                <a:latin typeface="Consolas"/>
                <a:ea typeface="Consolas" pitchFamily="34" charset="-122"/>
                <a:cs typeface="Consolas" pitchFamily="34" charset="-120"/>
              </a:rPr>
              <a:t>q</a:t>
            </a:r>
            <a:r>
              <a:rPr lang="en-US" sz="2200" baseline="-25000" err="1">
                <a:solidFill>
                  <a:srgbClr val="0B1220"/>
                </a:solidFill>
                <a:latin typeface="Consolas"/>
                <a:ea typeface="Consolas" pitchFamily="34" charset="-122"/>
                <a:cs typeface="Consolas" pitchFamily="34" charset="-120"/>
              </a:rPr>
              <a:t>cov</a:t>
            </a:r>
            <a:endParaRPr lang="en-US" sz="2200" baseline="-25000" err="1">
              <a:solidFill>
                <a:srgbClr val="0B1220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56231" y="4566419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∈ [0,1] (0 = low risk, 1 = high risk)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1506" y="2941964"/>
            <a:ext cx="5742432" cy="36576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58333" y="-795657"/>
            <a:ext cx="5193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5826" y="3353444"/>
            <a:ext cx="51937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8706" y="3508892"/>
            <a:ext cx="4800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Covariance("known unknowns")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8706" y="3838076"/>
            <a:ext cx="4800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0B1220"/>
                </a:solidFill>
                <a:ea typeface="Calibri"/>
                <a:cs typeface="Calibri"/>
              </a:rPr>
              <a:t>Detects that we are in an uninformative environment(uniform corridor, open space)</a:t>
            </a:r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85826" y="4907924"/>
            <a:ext cx="51937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8706" y="5063372"/>
            <a:ext cx="4800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dirty="0">
                <a:solidFill>
                  <a:srgbClr val="00A3A3"/>
                </a:solidFill>
                <a:latin typeface="Calibri"/>
                <a:ea typeface="Calibri"/>
                <a:cs typeface="Calibri"/>
              </a:rPr>
              <a:t>NIS("unknown unknowns")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8706" y="5392556"/>
            <a:ext cx="48006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Detects sudden failures: dynamic occlusions, wheel slip, sensor degrada</a:t>
            </a:r>
            <a:r>
              <a:rPr lang="en-US" sz="140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tion</a:t>
            </a:r>
            <a:r>
              <a:rPr lang="en-US" sz="1400" dirty="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71ADE646-62F5-9FBF-3E9E-C808769C4094}"/>
              </a:ext>
            </a:extLst>
          </p:cNvPr>
          <p:cNvSpPr/>
          <p:nvPr/>
        </p:nvSpPr>
        <p:spPr>
          <a:xfrm>
            <a:off x="6657535" y="5336346"/>
            <a:ext cx="5023338" cy="4911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>
                <a:solidFill>
                  <a:srgbClr val="5B677A"/>
                </a:solidFill>
                <a:latin typeface="Consolas"/>
                <a:ea typeface="Consolas" pitchFamily="34" charset="-122"/>
                <a:cs typeface="Consolas" pitchFamily="34" charset="-120"/>
              </a:rPr>
              <a:t>q_cov</a:t>
            </a:r>
            <a:r>
              <a:rPr lang="en-US" sz="1200" dirty="0">
                <a:solidFill>
                  <a:srgbClr val="5B677A"/>
                </a:solidFill>
                <a:latin typeface="Consolas"/>
                <a:ea typeface="Consolas" pitchFamily="34" charset="-122"/>
                <a:cs typeface="Consolas" pitchFamily="34" charset="-120"/>
              </a:rPr>
              <a:t> = trace(P) or |P|, smoothed and normalized → [0,1]</a:t>
            </a:r>
            <a:endParaRPr lang="en-US" sz="1200" dirty="0">
              <a:latin typeface="Consolas"/>
            </a:endParaRPr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4E763032-11E3-3F2B-E9CE-D9DF7E88D221}"/>
              </a:ext>
            </a:extLst>
          </p:cNvPr>
          <p:cNvSpPr/>
          <p:nvPr/>
        </p:nvSpPr>
        <p:spPr>
          <a:xfrm>
            <a:off x="6657535" y="4903295"/>
            <a:ext cx="4800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5B677A"/>
                </a:solidFill>
                <a:ea typeface="+mn-lt"/>
                <a:cs typeface="+mn-lt"/>
              </a:rPr>
              <a:t>Normalized Innovation Squared  </a:t>
            </a:r>
            <a:r>
              <a:rPr lang="en-US" sz="1200">
                <a:solidFill>
                  <a:srgbClr val="5B677A"/>
                </a:solidFill>
                <a:latin typeface="Consolas"/>
                <a:ea typeface="Consolas" pitchFamily="34" charset="-122"/>
                <a:cs typeface="Consolas" pitchFamily="34" charset="-120"/>
              </a:rPr>
              <a:t>NIS = rᵀ S⁻¹ r</a:t>
            </a:r>
            <a:endParaRPr lang="en-US" sz="1200">
              <a:latin typeface="Consolas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1002975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Existing Papers(only main papers included)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3188" y="1143000"/>
            <a:ext cx="11455088" cy="516636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7877" y="2739214"/>
            <a:ext cx="1100023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 dirty="0">
                <a:solidFill>
                  <a:srgbClr val="0B1220"/>
                </a:solidFill>
              </a:rPr>
              <a:t>Local Nearest Neighbor Integrity Risk Evaluation for Robot Navigation(2022)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685EDD-411B-615C-AEA0-0FB88AEEC19F}"/>
              </a:ext>
            </a:extLst>
          </p:cNvPr>
          <p:cNvSpPr txBox="1"/>
          <p:nvPr/>
        </p:nvSpPr>
        <p:spPr>
          <a:xfrm>
            <a:off x="597877" y="1389185"/>
            <a:ext cx="97770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 Robust Framework for Failure Detection and Recovery for Terrain-relative Navigation(2013)</a:t>
            </a:r>
          </a:p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52F547-5CC0-A7EB-7543-CF8B22DABFB7}"/>
              </a:ext>
            </a:extLst>
          </p:cNvPr>
          <p:cNvSpPr txBox="1"/>
          <p:nvPr/>
        </p:nvSpPr>
        <p:spPr>
          <a:xfrm>
            <a:off x="914399" y="1875692"/>
            <a:ext cx="87571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One of the </a:t>
            </a:r>
            <a:r>
              <a:rPr lang="en-US">
                <a:ea typeface="Calibri"/>
                <a:cs typeface="Calibri"/>
              </a:rPr>
              <a:t>first</a:t>
            </a:r>
            <a:r>
              <a:rPr lang="en-US" dirty="0">
                <a:ea typeface="Calibri"/>
                <a:cs typeface="Calibri"/>
              </a:rPr>
              <a:t> paper to use NIS to do diagnostic check to see if the system is lost for mobile robot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E56511-6915-A9B7-1DE4-4D063D6049CA}"/>
              </a:ext>
            </a:extLst>
          </p:cNvPr>
          <p:cNvSpPr txBox="1"/>
          <p:nvPr/>
        </p:nvSpPr>
        <p:spPr>
          <a:xfrm>
            <a:off x="914399" y="3212123"/>
            <a:ext cx="69048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Using covariance matrices and particle spread is not sufficient for safety-critical task in SLAM.</a:t>
            </a:r>
          </a:p>
        </p:txBody>
      </p:sp>
      <p:pic>
        <p:nvPicPr>
          <p:cNvPr id="29" name="Picture 28" descr="A graph of a graph with red and blue lines&#10;&#10;AI-generated content may be incorrect.">
            <a:extLst>
              <a:ext uri="{FF2B5EF4-FFF2-40B4-BE49-F238E27FC236}">
                <a16:creationId xmlns:a16="http://schemas.microsoft.com/office/drawing/2014/main" id="{E691960B-833C-AC47-F12F-F6204DDFE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25" y="2740635"/>
            <a:ext cx="3835644" cy="3217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38AAE-920D-8C8A-4B1A-ADE30AC9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D7EFAF-3C96-6EFF-8446-8EBD84DD9BDA}"/>
              </a:ext>
            </a:extLst>
          </p:cNvPr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BD8F5E-FB94-2E56-60E8-EE8413B591B9}"/>
              </a:ext>
            </a:extLst>
          </p:cNvPr>
          <p:cNvSpPr/>
          <p:nvPr/>
        </p:nvSpPr>
        <p:spPr>
          <a:xfrm>
            <a:off x="594360" y="16459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/ Alternative Risk Signals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717585-9C0E-C95B-254B-D23B978FA5DC}"/>
              </a:ext>
            </a:extLst>
          </p:cNvPr>
          <p:cNvSpPr/>
          <p:nvPr/>
        </p:nvSpPr>
        <p:spPr>
          <a:xfrm>
            <a:off x="640080" y="1143000"/>
            <a:ext cx="11548872" cy="516636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292100-AF12-83DB-D24A-463DB026E22E}"/>
              </a:ext>
            </a:extLst>
          </p:cNvPr>
          <p:cNvSpPr/>
          <p:nvPr/>
        </p:nvSpPr>
        <p:spPr>
          <a:xfrm>
            <a:off x="914400" y="1344168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options (what they capture)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AF04604-FC4A-50F6-26F7-F882F063EE94}"/>
              </a:ext>
            </a:extLst>
          </p:cNvPr>
          <p:cNvSpPr/>
          <p:nvPr/>
        </p:nvSpPr>
        <p:spPr>
          <a:xfrm>
            <a:off x="914400" y="1691640"/>
            <a:ext cx="5532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1F6772-AE6B-2147-AB9B-682345659F2E}"/>
              </a:ext>
            </a:extLst>
          </p:cNvPr>
          <p:cNvSpPr/>
          <p:nvPr/>
        </p:nvSpPr>
        <p:spPr>
          <a:xfrm>
            <a:off x="1143000" y="182880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/ innovation test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1C0C436-5415-2B80-C44E-396D1E512F93}"/>
              </a:ext>
            </a:extLst>
          </p:cNvPr>
          <p:cNvSpPr/>
          <p:nvPr/>
        </p:nvSpPr>
        <p:spPr>
          <a:xfrm>
            <a:off x="1143000" y="207568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statistical inconsistency (outliers, divergence); can be thresholded via χ².</a:t>
            </a:r>
            <a:endParaRPr lang="en-US" sz="1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3AD1A64-CD91-5037-11B2-818B56D5EE97}"/>
              </a:ext>
            </a:extLst>
          </p:cNvPr>
          <p:cNvSpPr/>
          <p:nvPr/>
        </p:nvSpPr>
        <p:spPr>
          <a:xfrm>
            <a:off x="914400" y="2651760"/>
            <a:ext cx="5532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D667AB-B5A0-5CC0-68A9-E333B010B937}"/>
              </a:ext>
            </a:extLst>
          </p:cNvPr>
          <p:cNvSpPr/>
          <p:nvPr/>
        </p:nvSpPr>
        <p:spPr>
          <a:xfrm>
            <a:off x="1143000" y="278892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Scan-match Hessian eigenvalues / condition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B68BD0F-0D3E-A6B6-BE9E-9823E8A05C90}"/>
              </a:ext>
            </a:extLst>
          </p:cNvPr>
          <p:cNvSpPr/>
          <p:nvPr/>
        </p:nvSpPr>
        <p:spPr>
          <a:xfrm>
            <a:off x="1143000" y="303580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observability / degeneracy of scan alignment (e.g., corridors → weak constraints).</a:t>
            </a:r>
            <a:endParaRPr lang="en-US" sz="12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17855FF-178F-C96C-1469-A17AFCCC1F2D}"/>
              </a:ext>
            </a:extLst>
          </p:cNvPr>
          <p:cNvSpPr/>
          <p:nvPr/>
        </p:nvSpPr>
        <p:spPr>
          <a:xfrm>
            <a:off x="914400" y="3611880"/>
            <a:ext cx="5532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C595AFC-644B-0758-2D50-A8C4FC81104C}"/>
              </a:ext>
            </a:extLst>
          </p:cNvPr>
          <p:cNvSpPr/>
          <p:nvPr/>
        </p:nvSpPr>
        <p:spPr>
          <a:xfrm>
            <a:off x="1143000" y="374904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covariance (EKF/graph)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600B1CB-8A91-EF2C-3562-BC59C9B94EFA}"/>
              </a:ext>
            </a:extLst>
          </p:cNvPr>
          <p:cNvSpPr/>
          <p:nvPr/>
        </p:nvSpPr>
        <p:spPr>
          <a:xfrm>
            <a:off x="1143000" y="399592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estimated uncertainty growth; can stay “calm” during unmodeled failures.</a:t>
            </a:r>
            <a:endParaRPr lang="en-US" sz="12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29E390D-1966-174A-1235-52C06C177DD8}"/>
              </a:ext>
            </a:extLst>
          </p:cNvPr>
          <p:cNvSpPr/>
          <p:nvPr/>
        </p:nvSpPr>
        <p:spPr>
          <a:xfrm>
            <a:off x="6629400" y="1691640"/>
            <a:ext cx="5532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07FFADD-B8EB-F180-28F3-8D2AAB126D39}"/>
              </a:ext>
            </a:extLst>
          </p:cNvPr>
          <p:cNvSpPr/>
          <p:nvPr/>
        </p:nvSpPr>
        <p:spPr>
          <a:xfrm>
            <a:off x="6858000" y="182880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spread (AMCL)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ED2DB4F-699C-5F8E-4BE9-92947083238D}"/>
              </a:ext>
            </a:extLst>
          </p:cNvPr>
          <p:cNvSpPr/>
          <p:nvPr/>
        </p:nvSpPr>
        <p:spPr>
          <a:xfrm>
            <a:off x="6858000" y="207568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particle cloud dispersion; sensitive to resampling and map ambiguity.</a:t>
            </a:r>
            <a:endParaRPr lang="en-US" sz="12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E425BF0-97F9-B819-3AA9-6BA0FBEA99E6}"/>
              </a:ext>
            </a:extLst>
          </p:cNvPr>
          <p:cNvSpPr/>
          <p:nvPr/>
        </p:nvSpPr>
        <p:spPr>
          <a:xfrm>
            <a:off x="6629400" y="2651760"/>
            <a:ext cx="5532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10EF036-F6C3-26D2-B7E1-326885EFA6C5}"/>
              </a:ext>
            </a:extLst>
          </p:cNvPr>
          <p:cNvSpPr/>
          <p:nvPr/>
        </p:nvSpPr>
        <p:spPr>
          <a:xfrm>
            <a:off x="6858000" y="278892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reliability models (CNN/RNN)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375AFAA-A724-204E-05F9-56C77FD5BE5A}"/>
              </a:ext>
            </a:extLst>
          </p:cNvPr>
          <p:cNvSpPr/>
          <p:nvPr/>
        </p:nvSpPr>
        <p:spPr>
          <a:xfrm>
            <a:off x="6858000" y="303580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localization quality from raw scans/images/history; needs data + domain transfer care.</a:t>
            </a:r>
            <a:endParaRPr lang="en-US" sz="12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DF65B0F-9A66-A1C9-0D3E-BBD1CC4B8EBD}"/>
              </a:ext>
            </a:extLst>
          </p:cNvPr>
          <p:cNvSpPr/>
          <p:nvPr/>
        </p:nvSpPr>
        <p:spPr>
          <a:xfrm>
            <a:off x="6629400" y="3611880"/>
            <a:ext cx="5532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615FABC-0567-7A6C-6E75-06C574BE6A24}"/>
              </a:ext>
            </a:extLst>
          </p:cNvPr>
          <p:cNvSpPr/>
          <p:nvPr/>
        </p:nvSpPr>
        <p:spPr>
          <a:xfrm>
            <a:off x="6858000" y="374904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Cartographer scan matching score</a:t>
            </a:r>
            <a:endParaRPr lang="en-US" sz="15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7E289FF-479A-1239-1EC1-CC91044F4348}"/>
              </a:ext>
            </a:extLst>
          </p:cNvPr>
          <p:cNvSpPr/>
          <p:nvPr/>
        </p:nvSpPr>
        <p:spPr>
          <a:xfrm>
            <a:off x="6858000" y="399592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alignment score used in tuning; depends on configuration and environment.</a:t>
            </a:r>
            <a:endParaRPr lang="en-US" sz="12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23D9A7C-9B9A-35A8-0AFE-E00022AA28A4}"/>
              </a:ext>
            </a:extLst>
          </p:cNvPr>
          <p:cNvSpPr/>
          <p:nvPr/>
        </p:nvSpPr>
        <p:spPr>
          <a:xfrm>
            <a:off x="914400" y="5486400"/>
            <a:ext cx="110002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711993C-E277-B894-57B0-335EBA431B23}"/>
              </a:ext>
            </a:extLst>
          </p:cNvPr>
          <p:cNvSpPr/>
          <p:nvPr/>
        </p:nvSpPr>
        <p:spPr>
          <a:xfrm>
            <a:off x="1188720" y="5641848"/>
            <a:ext cx="10451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approach: combine complementary signals (inconsistency + uncertainty) into a single, planner-facing risk scalar.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9544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Risk Scalar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669280" cy="544068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441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scenarios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across controlled stressors: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Feature-poor corridors / open areas (low observability)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occlusions (people/forklifts), partial scan dropouts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slip / odometry corruption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Scan-matching perturbations (bad initial guess, repeats)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passages near obstacles (high consequence)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143000"/>
            <a:ext cx="5742432" cy="278892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344168"/>
            <a:ext cx="5193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60020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/ innovation statistic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covariance proxy (trace(P) or |P|)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Scan-match Hessian eigenvalues / condition number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scalar q(t)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events in sim: collision / near-collision / large pose error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46520" y="4069080"/>
            <a:ext cx="5742432" cy="25146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E2EF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4270248"/>
            <a:ext cx="5193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score detection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4526280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delay: time from event onset → q crossing threshold</a:t>
            </a:r>
            <a:endParaRPr lang="en-US" sz="145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near-collision flagged before minimum distance violation</a:t>
            </a:r>
            <a:endParaRPr lang="en-US" sz="145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ROC/AUC for classifying “unsafe” episodes (q vs NIS vs covariance vs eigenvalues)</a:t>
            </a:r>
            <a:endParaRPr lang="en-US" sz="145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Ablations: q_nis only, q_cov only, full q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5257800"/>
            <a:ext cx="5257800" cy="0"/>
          </a:xfrm>
          <a:prstGeom prst="line">
            <a:avLst/>
          </a:prstGeom>
          <a:noFill/>
          <a:ln w="381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5184648"/>
            <a:ext cx="146304" cy="146304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376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95728" y="518464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5376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75888" y="5184648"/>
            <a:ext cx="146304" cy="14630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5376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16168" y="5184648"/>
            <a:ext cx="146304" cy="146304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5376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598932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whether q rises earlier and more reliably than individual signals.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Risk-Adaptive MPPI</a:t>
            </a:r>
            <a:endParaRPr lang="en-US" sz="22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91662" y="858129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Risk-adaptive MPPI (proposed)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3865" y="1376289"/>
            <a:ext cx="6482861" cy="12004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Uses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q(t) to *schedule* cost weights and speed constraints.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 ↑ : safer, slower, more structure-seeking behavior emerges.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8074" y="2656601"/>
            <a:ext cx="11430000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394" y="2659966"/>
            <a:ext cx="1088136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</a:t>
            </a:r>
            <a:r>
              <a:rPr lang="en-US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baseline="-2500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goal</a:t>
            </a:r>
            <a:r>
              <a:rPr lang="en-US" sz="1800" baseline="-250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(q)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en-US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</a:t>
            </a:r>
            <a:r>
              <a:rPr lang="en-US" baseline="-2500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goal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+  </a:t>
            </a:r>
            <a:r>
              <a:rPr lang="en-US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baseline="-2500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obs</a:t>
            </a:r>
            <a:r>
              <a:rPr lang="en-US" sz="1800" baseline="-250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(q)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en-US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</a:t>
            </a:r>
            <a:r>
              <a:rPr lang="en-US" baseline="-250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obs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+  </a:t>
            </a:r>
            <a:r>
              <a:rPr lang="en-US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baseline="-2500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info</a:t>
            </a:r>
            <a:r>
              <a:rPr lang="en-US" sz="1800" baseline="-250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(q)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en-US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</a:t>
            </a:r>
            <a:r>
              <a:rPr lang="en-US" baseline="-2500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info</a:t>
            </a:r>
            <a:endParaRPr lang="en-US" sz="1800" baseline="-250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2394" y="318117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scheduling: v_max(q) ↓ as q ↑  (and similarly for ω_max)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892040"/>
            <a:ext cx="5577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0474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scheduling map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5349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low: w_goal↑, v_max↑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high: w_obs↑, w_info↑, v_max↓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4892040"/>
            <a:ext cx="5669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50474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53492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→ (NIS, P) → q(t) → MPPI weights + speed → cmd_vel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75987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Risk-Aware Variants of MPPI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how “risk” has been incorporated into MPPI-style control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10607040" cy="3566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RA-MPPI (CVaR over rollout costs): biases updates toward safer trajectories under uncertainty.</a:t>
            </a: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CC-MPPI (covariance steering / distribution control): constrains or shapes rollout dispersion to prevent divergence.</a:t>
            </a: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Risk-aware </a:t>
            </a:r>
            <a:r>
              <a:rPr lang="en-US" sz="180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traversability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MPPI: uses probabilistic terrain/</a:t>
            </a:r>
            <a:r>
              <a:rPr lang="en-US" sz="1800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traversability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risk as a cost term for planning.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Dynamic Risk-Aware MPPI in crowds</a:t>
            </a:r>
            <a:r>
              <a:rPr lang="en-US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18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uses collision probability / chance-constraint-like rejection of risky samples.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18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Scenarios</a:t>
            </a:r>
            <a:endParaRPr lang="en-US" sz="22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276C28E-CE64-F4D2-8E6E-12333DB51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443965"/>
              </p:ext>
            </p:extLst>
          </p:nvPr>
        </p:nvGraphicFramePr>
        <p:xfrm>
          <a:off x="762000" y="1711569"/>
          <a:ext cx="11181474" cy="37727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04645">
                  <a:extLst>
                    <a:ext uri="{9D8B030D-6E8A-4147-A177-3AD203B41FA5}">
                      <a16:colId xmlns:a16="http://schemas.microsoft.com/office/drawing/2014/main" val="3868347820"/>
                    </a:ext>
                  </a:extLst>
                </a:gridCol>
                <a:gridCol w="1277812">
                  <a:extLst>
                    <a:ext uri="{9D8B030D-6E8A-4147-A177-3AD203B41FA5}">
                      <a16:colId xmlns:a16="http://schemas.microsoft.com/office/drawing/2014/main" val="2324662705"/>
                    </a:ext>
                  </a:extLst>
                </a:gridCol>
                <a:gridCol w="1324707">
                  <a:extLst>
                    <a:ext uri="{9D8B030D-6E8A-4147-A177-3AD203B41FA5}">
                      <a16:colId xmlns:a16="http://schemas.microsoft.com/office/drawing/2014/main" val="2051943567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3676422656"/>
                    </a:ext>
                  </a:extLst>
                </a:gridCol>
                <a:gridCol w="5308218">
                  <a:extLst>
                    <a:ext uri="{9D8B030D-6E8A-4147-A177-3AD203B41FA5}">
                      <a16:colId xmlns:a16="http://schemas.microsoft.com/office/drawing/2014/main" val="2147357399"/>
                    </a:ext>
                  </a:extLst>
                </a:gridCol>
              </a:tblGrid>
              <a:tr h="6682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Covariance</a:t>
                      </a:r>
                    </a:p>
                    <a:p>
                      <a:pPr lvl="0" algn="ctr">
                        <a:buNone/>
                      </a:pPr>
                      <a:r>
                        <a:rPr lang="en-US" dirty="0"/>
                        <a:t>(</a:t>
                      </a:r>
                      <a:r>
                        <a:rPr lang="en-US" err="1"/>
                        <a:t>q</a:t>
                      </a:r>
                      <a:r>
                        <a:rPr lang="en-US" baseline="-25000" err="1"/>
                        <a:t>cov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Innovation</a:t>
                      </a:r>
                    </a:p>
                    <a:p>
                      <a:pPr lvl="0" algn="ctr">
                        <a:buNone/>
                      </a:pPr>
                      <a:r>
                        <a:rPr lang="en-US" dirty="0"/>
                        <a:t>(</a:t>
                      </a:r>
                      <a:r>
                        <a:rPr lang="en-US" err="1"/>
                        <a:t>q</a:t>
                      </a:r>
                      <a:r>
                        <a:rPr lang="en-US" baseline="-25000" err="1"/>
                        <a:t>NIS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 Scalar</a:t>
                      </a:r>
                    </a:p>
                    <a:p>
                      <a:pPr lvl="0" algn="ctr">
                        <a:buNone/>
                      </a:pPr>
                      <a:r>
                        <a:rPr lang="en-US" dirty="0"/>
                        <a:t>(q)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MPPI Behaviors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48569"/>
                  </a:ext>
                </a:extLst>
              </a:tr>
              <a:tr h="5921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Big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steer toward walls / shelving edges (higher structure)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265272"/>
                  </a:ext>
                </a:extLst>
              </a:tr>
              <a:tr h="5921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Long Corridor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chooses actions that move toward intersections / richer geometry when available.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830818"/>
                  </a:ext>
                </a:extLst>
              </a:tr>
              <a:tr h="59216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Dynamic Occlusion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Slows down, avoids </a:t>
                      </a: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</a:rPr>
                        <a:t>obstacles and searches for richer geometry</a:t>
                      </a: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200421"/>
                  </a:ext>
                </a:extLst>
              </a:tr>
              <a:tr h="6330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Wheel Slip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↑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↑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Slows down, avoids obstacles and searches for richer geometry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734581"/>
                  </a:ext>
                </a:extLst>
              </a:tr>
              <a:tr h="5921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Featured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111111"/>
                          </a:solidFill>
                          <a:latin typeface="Calibri"/>
                        </a:rPr>
                        <a:t>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finds shortest path to reach the goal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982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750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Integrity-Conditioned Risk-Adaptive Navigation (Proposal)</dc:title>
  <dc:subject>Thesis proposal presentation</dc:subject>
  <dc:creator>Thesis Proposal</dc:creator>
  <cp:lastModifiedBy>Thesis Proposal</cp:lastModifiedBy>
  <cp:revision>317</cp:revision>
  <dcterms:created xsi:type="dcterms:W3CDTF">2026-02-15T03:12:58Z</dcterms:created>
  <dcterms:modified xsi:type="dcterms:W3CDTF">2026-03-24T15:07:41Z</dcterms:modified>
</cp:coreProperties>
</file>